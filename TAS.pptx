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verage"/>
      <p:regular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30b8a0db82fc39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30b8a0db82fc39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30b8a0db82fc398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30b8a0db82fc398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0b8a0db82fc398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30b8a0db82fc398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0b8a0db82fc39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30b8a0db82fc39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30b8a0db82fc39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30b8a0db82fc39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30b8a0db82fc39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30b8a0db82fc39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30b8a0db82fc39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30b8a0db82fc39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30b8a0db82fc398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30b8a0db82fc398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99764deb354f989_1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99764deb354f989_1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99764deb354f989_14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99764deb354f989_1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99764deb354f989_14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99764deb354f989_14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vnmsim.vercel.app/en-us" TargetMode="External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Coursework 1 – Exercise 6: AI-Assisted Programming in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             Von Neumann sim 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Solving a 3x3 Linear Equation System Using Cramer’s Rule</a:t>
            </a:r>
            <a:endParaRPr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accent5"/>
                </a:solidFill>
              </a:rPr>
              <a:t>Team </a:t>
            </a:r>
            <a:r>
              <a:rPr b="1" lang="ru" sz="1100">
                <a:solidFill>
                  <a:schemeClr val="accent5"/>
                </a:solidFill>
              </a:rPr>
              <a:t>TAS</a:t>
            </a:r>
            <a:r>
              <a:rPr lang="ru" sz="1100">
                <a:solidFill>
                  <a:schemeClr val="accent5"/>
                </a:solidFill>
              </a:rPr>
              <a:t> (Timur, Aydin, Sergey) </a:t>
            </a:r>
            <a:r>
              <a:rPr lang="ru">
                <a:solidFill>
                  <a:schemeClr val="accent5"/>
                </a:solidFill>
              </a:rPr>
              <a:t>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8187150" y="125825"/>
            <a:ext cx="14628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Brainstorming</a:t>
            </a:r>
            <a:endParaRPr b="1" sz="2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6 Initial Ideas							</a:t>
            </a:r>
            <a:endParaRPr b="1"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Prime Number Check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2×2 Matrix Solver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3×3 Matrix Solver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Bubble Sort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Greatest Common Divisor (GCD)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Palindrome Check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Claude's Evaluation Criteria</a:t>
            </a:r>
            <a:endParaRPr b="1"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Complexity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Originality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Suitability for vnmsim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125" y="2426360"/>
            <a:ext cx="4572002" cy="271714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950125" y="1152475"/>
            <a:ext cx="36297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Final Choice:</a:t>
            </a: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3×3 Linear System Solver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Highest technical challenge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Strict memory and instruction constraints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Practical mathematical application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8336550" y="173025"/>
            <a:ext cx="807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Algorithm &amp; Memory Map</a:t>
            </a:r>
            <a:endParaRPr b="1" sz="2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47125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Memory Allocation</a:t>
            </a:r>
            <a:endParaRPr b="1"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T0–T11 - Matrix coefficients and constants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T12–T15 -  Determinants and temporary values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X, Y, Z -  Solution outputs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W - Status flag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Cramer's Rule</a:t>
            </a:r>
            <a:endParaRPr b="1"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(X = D_x / D)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(Y = D_y / D)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(Z = D_z / D)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4720325" y="1366875"/>
            <a:ext cx="41121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AI core development and logic*</a:t>
            </a:r>
            <a:endParaRPr b="1"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AI suggested Laplace expansion and fixed-point scaling (x1000) 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Human testing and debugging: Fixed AI syntax errors and jump line numbers for vnmsim</a:t>
            </a: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577100" y="4187400"/>
            <a:ext cx="15669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56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 sz="11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AI Contribution: Provided the structural logic for determinant expansion and fixed-point scaling. Human Oversight: Fixed AI syntax mistakes, such as using LOD #1 instead of LOD 1, and manually adjusted JMP and JMZ line numbers for the zero-indexed vnmsim environment.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438800" y="133700"/>
            <a:ext cx="86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LLM: CO-development I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64175" y="433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Initial</a:t>
            </a: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sketch: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2625"/>
            <a:ext cx="3288026" cy="26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60125"/>
            <a:ext cx="3288025" cy="14999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3288025" y="4068400"/>
            <a:ext cx="27534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← AI’s response 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to the sketch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8438800" y="133700"/>
            <a:ext cx="86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</a:t>
            </a: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LLM: CO-development II</a:t>
            </a:r>
            <a:endParaRPr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0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Fixing AI's logic and syntax: 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Even though AI was really helpful, some parts of the code required us to fix them.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10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37625"/>
            <a:ext cx="5152002" cy="98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457625"/>
            <a:ext cx="6277024" cy="88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681675"/>
            <a:ext cx="5705889" cy="502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184139"/>
            <a:ext cx="6395753" cy="48658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0" y="3362363"/>
            <a:ext cx="1368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2nd Debug</a:t>
            </a:r>
            <a:endParaRPr sz="1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0" y="1140325"/>
            <a:ext cx="1368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1st</a:t>
            </a:r>
            <a:r>
              <a:rPr lang="ru" sz="1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Debug</a:t>
            </a:r>
            <a:endParaRPr sz="1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8438800" y="133700"/>
            <a:ext cx="86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</a:t>
            </a: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LLM: CO-development III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325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Adding decimal number support: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After developing the main part of the code, we decided to add decimal number support for better application in real life scenarios.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5" y="1532525"/>
            <a:ext cx="5321425" cy="13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614400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25" y="2872350"/>
            <a:ext cx="5321424" cy="19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8438800" y="133700"/>
            <a:ext cx="86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</a:t>
            </a: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How the code actually works I: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3250" y="742550"/>
            <a:ext cx="664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Our program solves the SLAE of the form: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T0*X + T1*Y + T2*Z = T3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T4*X + T5*Y + T6*Z = T7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T8*X + T9*Y + T10*Z = T11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Input: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Our program reads memory cells </a:t>
            </a: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T0..T11 for input. Each cell’s value is stored in the format XYYY, where X is the whole part and YYY is the decimal part. 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(e.g. 3.14 would be stored as 3140)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7200" y="894200"/>
            <a:ext cx="1829949" cy="404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8438800" y="133700"/>
            <a:ext cx="86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</a:t>
            </a: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0" y="69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D966"/>
                </a:solidFill>
                <a:latin typeface="Courier New"/>
                <a:ea typeface="Courier New"/>
                <a:cs typeface="Courier New"/>
                <a:sym typeface="Courier New"/>
              </a:rPr>
              <a:t>Our program’s logic:</a:t>
            </a:r>
            <a:endParaRPr sz="1200">
              <a:solidFill>
                <a:srgbClr val="FFD9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How the code actually works II: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75" y="1111300"/>
            <a:ext cx="7595525" cy="316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8438800" y="133700"/>
            <a:ext cx="86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</a:t>
            </a: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How the code actually works III: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3250" y="742550"/>
            <a:ext cx="664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Our program stores output in memory cells X,Y,Z and W. Cells’ X,Y and Z value is stored in the same format XYYY, where X is the whole part and YYY is the decimal part. Cell’s W value is 0 if there is a unique solution, and 1 if there is not.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8875" y="892021"/>
            <a:ext cx="1773450" cy="406940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8438800" y="133700"/>
            <a:ext cx="86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</a:t>
            </a: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Live demonstration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3250" y="742550"/>
            <a:ext cx="664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https://vnmsim.vercel.app/en-us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37000"/>
            <a:ext cx="7557401" cy="354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8438800" y="133700"/>
            <a:ext cx="86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</a:t>
            </a: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Reflection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3250" y="742550"/>
            <a:ext cx="287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Skills we learned: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Working as a team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Writing better prompts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Analyzing AI’s responses critically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2856325" y="742550"/>
            <a:ext cx="256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Benefits of using an LLM: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Quick results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Good explanations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Accessibility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Personalised output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5424325" y="742550"/>
            <a:ext cx="348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Disadvantages</a:t>
            </a: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of using an LLM: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Requires precise information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Hallucinations and inaccuracies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Excess of text in response 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ourier New"/>
              <a:buChar char="●"/>
            </a:pPr>
            <a:r>
              <a:rPr lang="ru" sz="1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Skill atrophy(excessive use)</a:t>
            </a:r>
            <a:endParaRPr sz="12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ctrTitle"/>
          </p:nvPr>
        </p:nvSpPr>
        <p:spPr>
          <a:xfrm>
            <a:off x="671258" y="251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4"/>
                </a:solidFill>
              </a:rPr>
              <a:t>Thank you for your attention!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58" name="Google Shape;158;p24"/>
          <p:cNvSpPr txBox="1"/>
          <p:nvPr>
            <p:ph idx="1" type="subTitle"/>
          </p:nvPr>
        </p:nvSpPr>
        <p:spPr>
          <a:xfrm>
            <a:off x="671250" y="4246451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Any questions?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