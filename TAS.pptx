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5143500" cx="9144000"/>
  <p:notesSz cx="6858000" cy="9144000"/>
  <p:embeddedFontLst>
    <p:embeddedFont>
      <p:font typeface="Average"/>
      <p:regular r:id="rId18"/>
    </p:embeddedFont>
    <p:embeddedFont>
      <p:font typeface="Oswald"/>
      <p:regular r:id="rId19"/>
      <p:bold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Oswald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Oswald-regular.fntdata"/><Relationship Id="rId6" Type="http://schemas.openxmlformats.org/officeDocument/2006/relationships/slide" Target="slides/slide1.xml"/><Relationship Id="rId18" Type="http://schemas.openxmlformats.org/officeDocument/2006/relationships/font" Target="fonts/Average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h30b8a0db82fc398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h30b8a0db82fc398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h30b8a0db82fc3989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h30b8a0db82fc3989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h30b8a0db82fc3989_0_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h30b8a0db82fc3989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h30b8a0db82fc3989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h30b8a0db82fc398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h30b8a0db82fc398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h30b8a0db82fc398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h30b8a0db82fc3989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h30b8a0db82fc3989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h30b8a0db82fc3989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h30b8a0db82fc3989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h30b8a0db82fc3989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h30b8a0db82fc3989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h99764deb354f989_14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h99764deb354f989_14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h99764deb354f989_14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h99764deb354f989_14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h99764deb354f989_14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h99764deb354f989_14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4350279" y="2855377"/>
            <a:ext cx="443589" cy="105632"/>
            <a:chOff x="4137525" y="2915950"/>
            <a:chExt cx="869100" cy="207000"/>
          </a:xfrm>
        </p:grpSpPr>
        <p:sp>
          <p:nvSpPr>
            <p:cNvPr id="11" name="Google Shape;11;p2"/>
            <p:cNvSpPr/>
            <p:nvPr/>
          </p:nvSpPr>
          <p:spPr>
            <a:xfrm>
              <a:off x="446857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47996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41375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671258" y="990800"/>
            <a:ext cx="7801500" cy="173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671250" y="3174876"/>
            <a:ext cx="78015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671250" y="2141250"/>
            <a:ext cx="7852200" cy="86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" name="Google Shape;34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526350"/>
            <a:ext cx="62271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9"/>
          <p:cNvSpPr txBox="1"/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265500" y="28452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swald"/>
              <a:buNone/>
              <a:defRPr sz="21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255275"/>
            <a:ext cx="8520600" cy="189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lat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lvl="1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lvl="2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lvl="3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lvl="4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lvl="5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lvl="6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lvl="7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lvl="8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1.png"/><Relationship Id="rId6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vnmsim.vercel.app/en-us" TargetMode="External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671258" y="990800"/>
            <a:ext cx="7801500" cy="173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accent4"/>
                </a:solidFill>
              </a:rPr>
              <a:t>Coursework 1 – Exercise 6: AI-Assisted Programming in</a:t>
            </a:r>
            <a:endParaRPr>
              <a:solidFill>
                <a:schemeClr val="accent4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accent4"/>
                </a:solidFill>
              </a:rPr>
              <a:t>             Von Neumann sim 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60" name="Google Shape;60;p13"/>
          <p:cNvSpPr txBox="1"/>
          <p:nvPr>
            <p:ph idx="1" type="subTitle"/>
          </p:nvPr>
        </p:nvSpPr>
        <p:spPr>
          <a:xfrm>
            <a:off x="671250" y="3174876"/>
            <a:ext cx="78015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accent5"/>
                </a:solidFill>
              </a:rPr>
              <a:t>Solving a 3x3 Linear Equation System Using Cramer’s Rule</a:t>
            </a:r>
            <a:endParaRPr>
              <a:solidFill>
                <a:schemeClr val="accent5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accent5"/>
                </a:solidFill>
              </a:rPr>
              <a:t>Team </a:t>
            </a:r>
            <a:r>
              <a:rPr b="1" lang="ru" sz="1100">
                <a:solidFill>
                  <a:schemeClr val="accent5"/>
                </a:solidFill>
              </a:rPr>
              <a:t>TAS</a:t>
            </a:r>
            <a:r>
              <a:rPr lang="ru" sz="1100">
                <a:solidFill>
                  <a:schemeClr val="accent5"/>
                </a:solidFill>
              </a:rPr>
              <a:t> (Timur, Aydin, Sergey) </a:t>
            </a:r>
            <a:r>
              <a:rPr lang="ru">
                <a:solidFill>
                  <a:schemeClr val="accent5"/>
                </a:solidFill>
              </a:rPr>
              <a:t> 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None/>
            </a:pPr>
            <a:r>
              <a:rPr b="1" lang="ru" sz="2300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rPr>
              <a:t>Brainstorming</a:t>
            </a:r>
            <a:endParaRPr b="1" sz="2300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66" name="Google Shape;66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6 Initial Ideas							</a:t>
            </a:r>
            <a:endParaRPr b="1"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ourier New"/>
              <a:buChar char="●"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Prime Number Check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ourier New"/>
              <a:buChar char="●"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2×2 Matrix Solver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ourier New"/>
              <a:buChar char="●"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3×3 Matrix Solver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ourier New"/>
              <a:buChar char="●"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Bubble Sort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ourier New"/>
              <a:buChar char="●"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Greatest Common Divisor (GCD)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ourier New"/>
              <a:buChar char="●"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Palindrome Check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Claude's Evaluation Criteria</a:t>
            </a:r>
            <a:endParaRPr b="1"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ourier New"/>
              <a:buChar char="●"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Complexity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ourier New"/>
              <a:buChar char="●"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Originality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ourier New"/>
              <a:buChar char="●"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Application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ourier New"/>
              <a:buChar char="●"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Suitability for vnmsim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67" name="Google Shape;67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50125" y="2426360"/>
            <a:ext cx="4572002" cy="271714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4"/>
          <p:cNvSpPr txBox="1"/>
          <p:nvPr/>
        </p:nvSpPr>
        <p:spPr>
          <a:xfrm>
            <a:off x="3950125" y="1152475"/>
            <a:ext cx="3629700" cy="99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Final Choice:</a:t>
            </a: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 3×3 Linear System Solver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ourier New"/>
              <a:buChar char="●"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Highest technical challenge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ourier New"/>
              <a:buChar char="●"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Strict memory and instruction constraints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ourier New"/>
              <a:buChar char="●"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Practical mathematical application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None/>
            </a:pPr>
            <a:r>
              <a:rPr b="1" lang="ru" sz="2300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rPr>
              <a:t>Algorithm &amp; Memory Map</a:t>
            </a:r>
            <a:endParaRPr b="1" sz="2300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15"/>
          <p:cNvSpPr txBox="1"/>
          <p:nvPr>
            <p:ph idx="1" type="body"/>
          </p:nvPr>
        </p:nvSpPr>
        <p:spPr>
          <a:xfrm>
            <a:off x="347125" y="101772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Memory Allocation</a:t>
            </a:r>
            <a:endParaRPr b="1"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Arial"/>
              <a:buChar char="●"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T0–T11 - Matrix coefficients and constants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Arial"/>
              <a:buChar char="●"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T12–T15 -  Determinants and temporary values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Arial"/>
              <a:buChar char="●"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X, Y, Z -  Solution outputs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Arial"/>
              <a:buChar char="●"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W - Status flag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b="1"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Cramer's Rule</a:t>
            </a:r>
            <a:endParaRPr b="1"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ourier New"/>
              <a:buChar char="●"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(X = D_x / D)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ourier New"/>
              <a:buChar char="●"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(Y = D_y / D)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ourier New"/>
              <a:buChar char="●"/>
            </a:pP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(Z = D_z / D)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15"/>
          <p:cNvSpPr txBox="1"/>
          <p:nvPr/>
        </p:nvSpPr>
        <p:spPr>
          <a:xfrm>
            <a:off x="4720325" y="1366875"/>
            <a:ext cx="4112100" cy="11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AI core development and logic</a:t>
            </a:r>
            <a:endParaRPr b="1"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ourier New"/>
              <a:buChar char="●"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AI suggested Laplace expansion and fixed-point scaling (x1000) 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ourier New"/>
              <a:buChar char="●"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Human testing and debugging: Fixed AI syntax errors and jump line numbers for vnmsim</a:t>
            </a: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76" name="Google Shape;76;p15"/>
          <p:cNvSpPr txBox="1"/>
          <p:nvPr/>
        </p:nvSpPr>
        <p:spPr>
          <a:xfrm>
            <a:off x="7577100" y="4187400"/>
            <a:ext cx="1566900" cy="95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475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56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ru" sz="11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AI Contribution: Provided the structural logic for determinant expansion and fixed-point scaling. Human Oversight: Fixed AI syntax mistakes, such as using LOD #1 instead of LOD 1, and manually adjusted JMP and JMZ line numbers for the zero-indexed vnmsim environment.</a:t>
            </a:r>
            <a:endParaRPr sz="18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accent4"/>
                </a:solidFill>
              </a:rPr>
              <a:t>LLM: CO-development I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82" name="Google Shape;82;p16"/>
          <p:cNvSpPr txBox="1"/>
          <p:nvPr>
            <p:ph idx="1" type="body"/>
          </p:nvPr>
        </p:nvSpPr>
        <p:spPr>
          <a:xfrm>
            <a:off x="64175" y="4331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>
                <a:solidFill>
                  <a:schemeClr val="accent5"/>
                </a:solidFill>
              </a:rPr>
              <a:t>Initial</a:t>
            </a:r>
            <a:r>
              <a:rPr lang="ru">
                <a:solidFill>
                  <a:schemeClr val="accent5"/>
                </a:solidFill>
              </a:rPr>
              <a:t> sketch:</a:t>
            </a:r>
            <a:endParaRPr>
              <a:solidFill>
                <a:schemeClr val="accent5"/>
              </a:solidFill>
            </a:endParaRPr>
          </a:p>
        </p:txBody>
      </p:sp>
      <p:pic>
        <p:nvPicPr>
          <p:cNvPr id="83" name="Google Shape;8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822625"/>
            <a:ext cx="3288026" cy="263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3460125"/>
            <a:ext cx="3288025" cy="1499901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6"/>
          <p:cNvSpPr txBox="1"/>
          <p:nvPr/>
        </p:nvSpPr>
        <p:spPr>
          <a:xfrm>
            <a:off x="3288025" y="4068400"/>
            <a:ext cx="2753400" cy="8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 </a:t>
            </a:r>
            <a:r>
              <a:rPr lang="ru" sz="1800">
                <a:solidFill>
                  <a:schemeClr val="accent5"/>
                </a:solidFill>
                <a:latin typeface="Average"/>
                <a:ea typeface="Average"/>
                <a:cs typeface="Average"/>
                <a:sym typeface="Average"/>
              </a:rPr>
              <a:t>← AI’s response </a:t>
            </a:r>
            <a:endParaRPr sz="1800">
              <a:solidFill>
                <a:schemeClr val="accent5"/>
              </a:solidFill>
              <a:latin typeface="Average"/>
              <a:ea typeface="Average"/>
              <a:cs typeface="Average"/>
              <a:sym typeface="Averag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accent5"/>
                </a:solidFill>
                <a:latin typeface="Average"/>
                <a:ea typeface="Average"/>
                <a:cs typeface="Average"/>
                <a:sym typeface="Average"/>
              </a:rPr>
              <a:t>       to the sketch</a:t>
            </a:r>
            <a:endParaRPr sz="1800">
              <a:solidFill>
                <a:schemeClr val="accent5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accent4"/>
                </a:solidFill>
              </a:rPr>
              <a:t>LLM: CO-development II</a:t>
            </a:r>
            <a:endParaRPr>
              <a:solidFill>
                <a:schemeClr val="accent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91" name="Google Shape;91;p17"/>
          <p:cNvSpPr txBox="1"/>
          <p:nvPr>
            <p:ph idx="1" type="body"/>
          </p:nvPr>
        </p:nvSpPr>
        <p:spPr>
          <a:xfrm>
            <a:off x="0" y="402200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Fixing AI's logic and syntax: 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Even though AI was really helpful, some parts of the code required us to fix them.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 sz="1100">
                <a:latin typeface="Courier New"/>
                <a:ea typeface="Courier New"/>
                <a:cs typeface="Courier New"/>
                <a:sym typeface="Courier New"/>
              </a:rPr>
              <a:t>d</a:t>
            </a:r>
            <a:endParaRPr sz="110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92" name="Google Shape;9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437625"/>
            <a:ext cx="5152002" cy="989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2457625"/>
            <a:ext cx="6277024" cy="882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3681675"/>
            <a:ext cx="5705889" cy="502464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0" y="4184139"/>
            <a:ext cx="6395753" cy="486586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7"/>
          <p:cNvSpPr txBox="1"/>
          <p:nvPr/>
        </p:nvSpPr>
        <p:spPr>
          <a:xfrm>
            <a:off x="0" y="3362363"/>
            <a:ext cx="1368900" cy="29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2nd Debug</a:t>
            </a:r>
            <a:endParaRPr sz="1100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97" name="Google Shape;97;p17"/>
          <p:cNvSpPr txBox="1"/>
          <p:nvPr/>
        </p:nvSpPr>
        <p:spPr>
          <a:xfrm>
            <a:off x="0" y="1140325"/>
            <a:ext cx="1368900" cy="29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1st</a:t>
            </a:r>
            <a:r>
              <a:rPr lang="ru" sz="11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 Debug</a:t>
            </a:r>
            <a:endParaRPr sz="1100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accent4"/>
                </a:solidFill>
              </a:rPr>
              <a:t>LLM: CO-development III</a:t>
            </a:r>
            <a:endParaRPr/>
          </a:p>
        </p:txBody>
      </p:sp>
      <p:sp>
        <p:nvSpPr>
          <p:cNvPr id="103" name="Google Shape;103;p18"/>
          <p:cNvSpPr txBox="1"/>
          <p:nvPr>
            <p:ph idx="1" type="body"/>
          </p:nvPr>
        </p:nvSpPr>
        <p:spPr>
          <a:xfrm>
            <a:off x="33250" y="572700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Adding decimal number support: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After developing the main part of the code, we decided to add decimal number support for better application in real life scenarios.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525" y="1532525"/>
            <a:ext cx="5321425" cy="133982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/>
          <p:nvPr/>
        </p:nvSpPr>
        <p:spPr>
          <a:xfrm>
            <a:off x="6144000" y="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6" name="Google Shape;106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25" y="2872350"/>
            <a:ext cx="5321424" cy="1911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accent4"/>
                </a:solidFill>
              </a:rPr>
              <a:t>How the code actually works I: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3250" y="742550"/>
            <a:ext cx="6647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Our program solves the SLAE of the form: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T0*X + T1*Y + T2*Z = T3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T4*X + T5*Y + T6*Z = T7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T8*X + T9*Y + T10*Z = T11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Input: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Our program reads memory cells </a:t>
            </a: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T0..T11 for input. Each cell’s value is stored in the format XYYY, where X is the whole part and YYY is the decimal part. 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(e.g. 3.14 would be stored as 3140)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just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b="1"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13" name="Google Shape;11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67200" y="203238"/>
            <a:ext cx="2142450" cy="47370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idx="1" type="body"/>
          </p:nvPr>
        </p:nvSpPr>
        <p:spPr>
          <a:xfrm>
            <a:off x="0" y="6942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FFD966"/>
                </a:solidFill>
                <a:latin typeface="Courier New"/>
                <a:ea typeface="Courier New"/>
                <a:cs typeface="Courier New"/>
                <a:sym typeface="Courier New"/>
              </a:rPr>
              <a:t>Our program’s logic:</a:t>
            </a:r>
            <a:endParaRPr sz="1200">
              <a:solidFill>
                <a:srgbClr val="FFD9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0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accent4"/>
                </a:solidFill>
              </a:rPr>
              <a:t>How the code actually works II:</a:t>
            </a:r>
            <a:endParaRPr>
              <a:solidFill>
                <a:schemeClr val="accent4"/>
              </a:solidFill>
            </a:endParaRPr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875" y="1111300"/>
            <a:ext cx="7595525" cy="316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1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accent4"/>
                </a:solidFill>
              </a:rPr>
              <a:t>How the code actually works III:</a:t>
            </a:r>
            <a:endParaRPr>
              <a:solidFill>
                <a:schemeClr val="accent4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33250" y="742550"/>
            <a:ext cx="6647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Output</a:t>
            </a: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Our program stores output in memory cells X,Y,Z and W. Cells’ X,Y and Z value is stored in the same format XYYY, where X is the whole part and YYY is the decimal part. Cell’s W value is 0 if there is a unique solution, and 1 if there is not.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just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b="1"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27" name="Google Shape;12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4775" y="438750"/>
            <a:ext cx="1859124" cy="42659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2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accent4"/>
                </a:solidFill>
              </a:rPr>
              <a:t>Live demonstration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33250" y="742550"/>
            <a:ext cx="6647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u="sng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3"/>
              </a:rPr>
              <a:t>https://vnmsim.vercel.app/en-us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34" name="Google Shape;134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137000"/>
            <a:ext cx="7557401" cy="3548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accent4"/>
                </a:solidFill>
              </a:rPr>
              <a:t>Reflection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33250" y="742550"/>
            <a:ext cx="2878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Skills we learned: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04800" lvl="0" marL="457200" rtl="0" algn="just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00"/>
              <a:buFont typeface="Courier New"/>
              <a:buChar char="●"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Working as a team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04800" lvl="0" marL="457200" rtl="0" algn="just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00"/>
              <a:buFont typeface="Courier New"/>
              <a:buChar char="●"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Writing better prompts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04800" lvl="0" marL="457200" rtl="0" algn="just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00"/>
              <a:buFont typeface="Courier New"/>
              <a:buChar char="●"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Analyzing AI’s responses critically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41" name="Google Shape;141;p23"/>
          <p:cNvSpPr txBox="1"/>
          <p:nvPr>
            <p:ph idx="1" type="body"/>
          </p:nvPr>
        </p:nvSpPr>
        <p:spPr>
          <a:xfrm>
            <a:off x="2856325" y="742550"/>
            <a:ext cx="2568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Benefits of using an LLM: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04800" lvl="0" marL="457200" rtl="0" algn="just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00"/>
              <a:buFont typeface="Courier New"/>
              <a:buChar char="●"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Quick results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04800" lvl="0" marL="457200" rtl="0" algn="just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00"/>
              <a:buFont typeface="Courier New"/>
              <a:buChar char="●"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Good explanations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04800" lvl="0" marL="457200" rtl="0" algn="just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00"/>
              <a:buFont typeface="Courier New"/>
              <a:buChar char="●"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Accessibility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04800" lvl="0" marL="457200" rtl="0" algn="just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00"/>
              <a:buFont typeface="Courier New"/>
              <a:buChar char="●"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Personalised output</a:t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42" name="Google Shape;142;p23"/>
          <p:cNvSpPr txBox="1"/>
          <p:nvPr>
            <p:ph idx="1" type="body"/>
          </p:nvPr>
        </p:nvSpPr>
        <p:spPr>
          <a:xfrm>
            <a:off x="5424325" y="742550"/>
            <a:ext cx="34881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Disadvantages</a:t>
            </a: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 of using an LLM: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04800" lvl="0" marL="457200" rtl="0" algn="just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00"/>
              <a:buFont typeface="Courier New"/>
              <a:buChar char="●"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Requires precise information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04800" lvl="0" marL="457200" rtl="0" algn="just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00"/>
              <a:buFont typeface="Courier New"/>
              <a:buChar char="●"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Hallucinations and inaccuracies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04800" lvl="0" marL="457200" rtl="0" algn="just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00"/>
              <a:buFont typeface="Courier New"/>
              <a:buChar char="●"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Excess of text in response 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04800" lvl="0" marL="457200" rtl="0" algn="just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00"/>
              <a:buFont typeface="Courier New"/>
              <a:buChar char="●"/>
            </a:pPr>
            <a:r>
              <a:rPr lang="ru" sz="12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Skill atrophy(excessive use)</a:t>
            </a:r>
            <a:endParaRPr sz="12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>
            <p:ph type="ctrTitle"/>
          </p:nvPr>
        </p:nvSpPr>
        <p:spPr>
          <a:xfrm>
            <a:off x="671258" y="251800"/>
            <a:ext cx="7801500" cy="173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accent4"/>
                </a:solidFill>
              </a:rPr>
              <a:t>Thank you for your attention!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148" name="Google Shape;148;p24"/>
          <p:cNvSpPr txBox="1"/>
          <p:nvPr>
            <p:ph idx="1" type="subTitle"/>
          </p:nvPr>
        </p:nvSpPr>
        <p:spPr>
          <a:xfrm>
            <a:off x="671250" y="4246451"/>
            <a:ext cx="78015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accent5"/>
                </a:solidFill>
              </a:rPr>
              <a:t>Any questions?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ate">
  <a:themeElements>
    <a:clrScheme name="Slate">
      <a:dk1>
        <a:srgbClr val="FFFFFF"/>
      </a:dk1>
      <a:lt1>
        <a:srgbClr val="37474F"/>
      </a:lt1>
      <a:dk2>
        <a:srgbClr val="9E9E9E"/>
      </a:dk2>
      <a:lt2>
        <a:srgbClr val="E0E0E0"/>
      </a:lt2>
      <a:accent1>
        <a:srgbClr val="616161"/>
      </a:accent1>
      <a:accent2>
        <a:srgbClr val="78909C"/>
      </a:accent2>
      <a:accent3>
        <a:srgbClr val="CACACA"/>
      </a:accent3>
      <a:accent4>
        <a:srgbClr val="64FFDA"/>
      </a:accent4>
      <a:accent5>
        <a:srgbClr val="FFD966"/>
      </a:accent5>
      <a:accent6>
        <a:srgbClr val="F5F5F5"/>
      </a:accent6>
      <a:hlink>
        <a:srgbClr val="FFD966"/>
      </a:hlink>
      <a:folHlink>
        <a:srgbClr val="FFD9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